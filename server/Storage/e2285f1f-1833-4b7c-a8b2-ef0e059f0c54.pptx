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7"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413067" cy="1143000"/>
          </a:xfrm>
        </p:spPr>
        <p:txBody>
          <a:bodyPr/>
          <a:lstStyle/>
          <a:p>
            <a:pPr>
              <a:defRPr sz="3600" b="1">
                <a:solidFill>
                  <a:srgbClr val="000040"/>
                </a:solidFill>
                <a:latin typeface="Times New Roman"/>
              </a:defRPr>
            </a:pPr>
            <a:r>
              <a:rPr dirty="0"/>
              <a:t>FPGA Implementation of QPSK</a:t>
            </a:r>
          </a:p>
        </p:txBody>
      </p:sp>
      <p:sp>
        <p:nvSpPr>
          <p:cNvPr id="3" name="TextBox 2"/>
          <p:cNvSpPr txBox="1"/>
          <p:nvPr/>
        </p:nvSpPr>
        <p:spPr>
          <a:xfrm>
            <a:off x="457200" y="1371600"/>
            <a:ext cx="4342856" cy="3447098"/>
          </a:xfrm>
          <a:prstGeom prst="rect">
            <a:avLst/>
          </a:prstGeom>
          <a:noFill/>
        </p:spPr>
        <p:txBody>
          <a:bodyPr wrap="none">
            <a:spAutoFit/>
          </a:bodyPr>
          <a:lstStyle/>
          <a:p>
            <a:endParaRPr dirty="0"/>
          </a:p>
          <a:p>
            <a:pPr>
              <a:spcAft>
                <a:spcPts val="1200"/>
              </a:spcAft>
              <a:defRPr sz="2000">
                <a:latin typeface="Times New Roman"/>
              </a:defRPr>
            </a:pPr>
            <a:r>
              <a:rPr dirty="0"/>
              <a:t>• Welcome &amp; Introduction</a:t>
            </a:r>
          </a:p>
          <a:p>
            <a:pPr>
              <a:spcAft>
                <a:spcPts val="1200"/>
              </a:spcAft>
              <a:defRPr sz="2000">
                <a:latin typeface="Times New Roman"/>
              </a:defRPr>
            </a:pPr>
            <a:r>
              <a:rPr dirty="0"/>
              <a:t>• Modulation &amp; Demodulation Concepts</a:t>
            </a:r>
          </a:p>
          <a:p>
            <a:pPr>
              <a:spcAft>
                <a:spcPts val="1200"/>
              </a:spcAft>
              <a:defRPr sz="2000">
                <a:latin typeface="Times New Roman"/>
              </a:defRPr>
            </a:pPr>
            <a:r>
              <a:rPr dirty="0"/>
              <a:t>• QPSK Fundamentals &amp; Advantages</a:t>
            </a:r>
          </a:p>
          <a:p>
            <a:pPr>
              <a:spcAft>
                <a:spcPts val="1200"/>
              </a:spcAft>
              <a:defRPr sz="2000">
                <a:latin typeface="Times New Roman"/>
              </a:defRPr>
            </a:pPr>
            <a:r>
              <a:rPr dirty="0"/>
              <a:t>• FPGA Architecture &amp; Design Flow</a:t>
            </a:r>
          </a:p>
          <a:p>
            <a:pPr>
              <a:spcAft>
                <a:spcPts val="1200"/>
              </a:spcAft>
              <a:defRPr sz="2000">
                <a:latin typeface="Times New Roman"/>
              </a:defRPr>
            </a:pPr>
            <a:r>
              <a:rPr dirty="0"/>
              <a:t>• </a:t>
            </a:r>
            <a:r>
              <a:rPr dirty="0" err="1"/>
              <a:t>RFSoC</a:t>
            </a:r>
            <a:r>
              <a:rPr dirty="0"/>
              <a:t> Integration &amp; Future Work</a:t>
            </a:r>
            <a:endParaRPr lang="en-IN" dirty="0"/>
          </a:p>
          <a:p>
            <a:pPr marL="342900" indent="-342900">
              <a:spcAft>
                <a:spcPts val="1200"/>
              </a:spcAft>
              <a:buFont typeface="Arial" panose="020B0604020202020204" pitchFamily="34" charset="0"/>
              <a:buChar char="•"/>
              <a:defRPr sz="2000">
                <a:latin typeface="Times New Roman"/>
              </a:defRPr>
            </a:pPr>
            <a:r>
              <a:rPr lang="en-IN" dirty="0"/>
              <a:t>Conclusion</a:t>
            </a:r>
            <a:endParaRPr dirty="0"/>
          </a:p>
          <a:p>
            <a:pPr>
              <a:spcAft>
                <a:spcPts val="1200"/>
              </a:spcAft>
              <a:defRPr sz="2000">
                <a:latin typeface="Times New Roman"/>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523133" cy="1143000"/>
          </a:xfrm>
        </p:spPr>
        <p:txBody>
          <a:bodyPr/>
          <a:lstStyle/>
          <a:p>
            <a:pPr>
              <a:defRPr sz="3200" b="1">
                <a:solidFill>
                  <a:srgbClr val="000040"/>
                </a:solidFill>
                <a:latin typeface="Times New Roman"/>
              </a:defRPr>
            </a:pPr>
            <a:r>
              <a:rPr dirty="0"/>
              <a:t>Modulation Overview</a:t>
            </a:r>
          </a:p>
        </p:txBody>
      </p:sp>
      <p:sp>
        <p:nvSpPr>
          <p:cNvPr id="3" name="TextBox 2"/>
          <p:cNvSpPr txBox="1"/>
          <p:nvPr/>
        </p:nvSpPr>
        <p:spPr>
          <a:xfrm>
            <a:off x="457200" y="1828800"/>
            <a:ext cx="11430000" cy="4247317"/>
          </a:xfrm>
          <a:prstGeom prst="rect">
            <a:avLst/>
          </a:prstGeom>
          <a:noFill/>
        </p:spPr>
        <p:txBody>
          <a:bodyPr wrap="square">
            <a:spAutoFit/>
          </a:bodyPr>
          <a:lstStyle/>
          <a:p>
            <a:endParaRPr dirty="0"/>
          </a:p>
          <a:p>
            <a:pPr>
              <a:buNone/>
            </a:pPr>
            <a:r>
              <a:rPr lang="en-US" b="1" dirty="0"/>
              <a:t>Modulation:</a:t>
            </a:r>
            <a:br>
              <a:rPr lang="en-US" dirty="0"/>
            </a:br>
            <a:r>
              <a:rPr lang="en-US" dirty="0"/>
              <a:t>Modulation is the process of altering certain characteristics of a high-frequency carrier signal — such as its amplitude, frequency, or phase — to embed and transmit the original data signal. This is essential for adapting baseband signals for transmission over various communication channels.</a:t>
            </a:r>
          </a:p>
          <a:p>
            <a:pPr>
              <a:buNone/>
            </a:pPr>
            <a:r>
              <a:rPr lang="en-US" b="1" dirty="0"/>
              <a:t>Purpose:</a:t>
            </a:r>
            <a:br>
              <a:rPr lang="en-US" dirty="0"/>
            </a:br>
            <a:r>
              <a:rPr lang="en-US" dirty="0"/>
              <a:t>The primary goal of modulation is to enable reliable and efficient transmission of information over long distances. It helps in overcoming physical limitations of antennas and minimizing signal loss, noise, and interference in real-world communication systems.</a:t>
            </a:r>
          </a:p>
          <a:p>
            <a:pPr>
              <a:buNone/>
            </a:pPr>
            <a:r>
              <a:rPr lang="en-US" b="1" dirty="0"/>
              <a:t>Types:</a:t>
            </a:r>
            <a:br>
              <a:rPr lang="en-US" dirty="0"/>
            </a:br>
            <a:r>
              <a:rPr lang="en-US" dirty="0"/>
              <a:t>Modulation techniques are broadly classified into two categories:</a:t>
            </a:r>
          </a:p>
          <a:p>
            <a:pPr>
              <a:buFont typeface="Arial" panose="020B0604020202020204" pitchFamily="34" charset="0"/>
              <a:buChar char="•"/>
            </a:pPr>
            <a:r>
              <a:rPr lang="en-US" b="1" dirty="0"/>
              <a:t>Analog modulation</a:t>
            </a:r>
            <a:r>
              <a:rPr lang="en-US" dirty="0"/>
              <a:t>, which includes methods like </a:t>
            </a:r>
            <a:r>
              <a:rPr lang="en-US" i="1" dirty="0"/>
              <a:t>Amplitude Modulation (AM)</a:t>
            </a:r>
            <a:r>
              <a:rPr lang="en-US" dirty="0"/>
              <a:t>, </a:t>
            </a:r>
            <a:r>
              <a:rPr lang="en-US" i="1" dirty="0"/>
              <a:t>Frequency Modulation (FM)</a:t>
            </a:r>
            <a:r>
              <a:rPr lang="en-US" dirty="0"/>
              <a:t>, and </a:t>
            </a:r>
            <a:r>
              <a:rPr lang="en-US" i="1" dirty="0"/>
              <a:t>Phase Modulation (PM)</a:t>
            </a:r>
            <a:r>
              <a:rPr lang="en-US" dirty="0"/>
              <a:t>, is used for continuous signals like audio.</a:t>
            </a:r>
          </a:p>
          <a:p>
            <a:pPr>
              <a:buFont typeface="Arial" panose="020B0604020202020204" pitchFamily="34" charset="0"/>
              <a:buChar char="•"/>
            </a:pPr>
            <a:r>
              <a:rPr lang="en-US" b="1" dirty="0"/>
              <a:t>Digital modulation</a:t>
            </a:r>
            <a:r>
              <a:rPr lang="en-US" dirty="0"/>
              <a:t> methods such as </a:t>
            </a:r>
            <a:r>
              <a:rPr lang="en-US" i="1" dirty="0"/>
              <a:t>Amplitude Shift Keying (ASK)</a:t>
            </a:r>
            <a:r>
              <a:rPr lang="en-US" dirty="0"/>
              <a:t>, </a:t>
            </a:r>
            <a:r>
              <a:rPr lang="en-US" i="1" dirty="0"/>
              <a:t>Frequency Shift Keying (FSK)</a:t>
            </a:r>
            <a:r>
              <a:rPr lang="en-US" dirty="0"/>
              <a:t>, </a:t>
            </a:r>
            <a:r>
              <a:rPr lang="en-US" i="1" dirty="0"/>
              <a:t>Phase Shift Keying (PSK)</a:t>
            </a:r>
            <a:r>
              <a:rPr lang="en-US" dirty="0"/>
              <a:t>, and </a:t>
            </a:r>
            <a:r>
              <a:rPr lang="en-US" i="1" dirty="0"/>
              <a:t>Quadrature Amplitude Modulation (QAM)</a:t>
            </a:r>
            <a:r>
              <a:rPr lang="en-US" dirty="0"/>
              <a:t> are designed for transmitting discrete digital data efficiently.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260667" cy="1143000"/>
          </a:xfrm>
        </p:spPr>
        <p:txBody>
          <a:bodyPr/>
          <a:lstStyle/>
          <a:p>
            <a:pPr>
              <a:defRPr sz="3200" b="1">
                <a:solidFill>
                  <a:srgbClr val="000040"/>
                </a:solidFill>
                <a:latin typeface="Times New Roman"/>
              </a:defRPr>
            </a:pPr>
            <a:r>
              <a:rPr dirty="0"/>
              <a:t>Demodulation Overview</a:t>
            </a:r>
          </a:p>
        </p:txBody>
      </p:sp>
      <p:sp>
        <p:nvSpPr>
          <p:cNvPr id="3" name="TextBox 2"/>
          <p:cNvSpPr txBox="1"/>
          <p:nvPr/>
        </p:nvSpPr>
        <p:spPr>
          <a:xfrm>
            <a:off x="457199" y="1828800"/>
            <a:ext cx="11489267" cy="4247317"/>
          </a:xfrm>
          <a:prstGeom prst="rect">
            <a:avLst/>
          </a:prstGeom>
          <a:noFill/>
        </p:spPr>
        <p:txBody>
          <a:bodyPr wrap="square">
            <a:spAutoFit/>
          </a:bodyPr>
          <a:lstStyle/>
          <a:p>
            <a:pPr>
              <a:buNone/>
            </a:pPr>
            <a:r>
              <a:rPr lang="en-US" b="1" dirty="0"/>
              <a:t>Demodulation:</a:t>
            </a:r>
            <a:br>
              <a:rPr lang="en-US" dirty="0"/>
            </a:br>
            <a:r>
              <a:rPr lang="en-US" dirty="0"/>
              <a:t>Demodulation is the reverse process of modulation — it involves extracting the original information-bearing signal from a modulated carrier wave at the receiver end. This is essential to recover usable data from the transmitted waveform for further processing or interpretation.</a:t>
            </a:r>
          </a:p>
          <a:p>
            <a:pPr>
              <a:buNone/>
            </a:pPr>
            <a:r>
              <a:rPr lang="en-US" b="1" dirty="0"/>
              <a:t>Techniques:</a:t>
            </a:r>
            <a:br>
              <a:rPr lang="en-US" dirty="0"/>
            </a:br>
            <a:r>
              <a:rPr lang="en-US" dirty="0"/>
              <a:t>Demodulation techniques are mainly categorized into two types:</a:t>
            </a:r>
          </a:p>
          <a:p>
            <a:pPr>
              <a:buFont typeface="Arial" panose="020B0604020202020204" pitchFamily="34" charset="0"/>
              <a:buChar char="•"/>
            </a:pPr>
            <a:r>
              <a:rPr lang="en-US" b="1" dirty="0"/>
              <a:t>Coherent demodulation</a:t>
            </a:r>
            <a:r>
              <a:rPr lang="en-US" dirty="0"/>
              <a:t> requires the receiver to be synchronized with the phase and frequency of the carrier signal, providing high accuracy.</a:t>
            </a:r>
          </a:p>
          <a:p>
            <a:pPr>
              <a:buFont typeface="Arial" panose="020B0604020202020204" pitchFamily="34" charset="0"/>
              <a:buChar char="•"/>
            </a:pPr>
            <a:r>
              <a:rPr lang="en-US" b="1" dirty="0"/>
              <a:t>Non-coherent demodulation</a:t>
            </a:r>
            <a:r>
              <a:rPr lang="en-US" dirty="0"/>
              <a:t> does not require such synchronization, making it simpler but generally less efficient in performance.</a:t>
            </a:r>
          </a:p>
          <a:p>
            <a:pPr>
              <a:buNone/>
            </a:pPr>
            <a:r>
              <a:rPr lang="en-US" b="1" dirty="0"/>
              <a:t>Challenges:</a:t>
            </a:r>
            <a:br>
              <a:rPr lang="en-US" dirty="0"/>
            </a:br>
            <a:r>
              <a:rPr lang="en-US" dirty="0"/>
              <a:t>Real-world demodulation faces several practical challenges, including:</a:t>
            </a:r>
          </a:p>
          <a:p>
            <a:pPr>
              <a:buFont typeface="Arial" panose="020B0604020202020204" pitchFamily="34" charset="0"/>
              <a:buChar char="•"/>
            </a:pPr>
            <a:r>
              <a:rPr lang="en-US" b="1" dirty="0"/>
              <a:t>Noise</a:t>
            </a:r>
            <a:r>
              <a:rPr lang="en-US" dirty="0"/>
              <a:t> from the channel which can distort the signal,</a:t>
            </a:r>
          </a:p>
          <a:p>
            <a:pPr>
              <a:buFont typeface="Arial" panose="020B0604020202020204" pitchFamily="34" charset="0"/>
              <a:buChar char="•"/>
            </a:pPr>
            <a:r>
              <a:rPr lang="en-US" b="1" dirty="0"/>
              <a:t>Carrier recovery</a:t>
            </a:r>
            <a:r>
              <a:rPr lang="en-US" dirty="0"/>
              <a:t>, which involves regenerating the carrier signal at the receiver,</a:t>
            </a:r>
          </a:p>
          <a:p>
            <a:pPr>
              <a:buFont typeface="Arial" panose="020B0604020202020204" pitchFamily="34" charset="0"/>
              <a:buChar char="•"/>
            </a:pPr>
            <a:r>
              <a:rPr lang="en-US" b="1" dirty="0"/>
              <a:t>Timing synchronization</a:t>
            </a:r>
            <a:r>
              <a:rPr lang="en-US" dirty="0"/>
              <a:t> to correctly sample and interpret the incoming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438467" cy="1143000"/>
          </a:xfrm>
        </p:spPr>
        <p:txBody>
          <a:bodyPr/>
          <a:lstStyle/>
          <a:p>
            <a:pPr>
              <a:defRPr sz="3200" b="1">
                <a:solidFill>
                  <a:srgbClr val="000040"/>
                </a:solidFill>
                <a:latin typeface="Times New Roman"/>
              </a:defRPr>
            </a:pPr>
            <a:r>
              <a:rPr dirty="0"/>
              <a:t>QPSK Fundamentals</a:t>
            </a:r>
          </a:p>
        </p:txBody>
      </p:sp>
      <p:sp>
        <p:nvSpPr>
          <p:cNvPr id="3" name="TextBox 2"/>
          <p:cNvSpPr txBox="1"/>
          <p:nvPr/>
        </p:nvSpPr>
        <p:spPr>
          <a:xfrm>
            <a:off x="457200" y="1828800"/>
            <a:ext cx="5486400" cy="4114800"/>
          </a:xfrm>
          <a:prstGeom prst="rect">
            <a:avLst/>
          </a:prstGeom>
          <a:noFill/>
        </p:spPr>
        <p:txBody>
          <a:bodyPr wrap="none">
            <a:spAutoFit/>
          </a:bodyPr>
          <a:lstStyle/>
          <a:p>
            <a:endParaRPr/>
          </a:p>
          <a:p>
            <a:pPr>
              <a:spcAft>
                <a:spcPts val="1500"/>
              </a:spcAft>
              <a:defRPr sz="2000">
                <a:latin typeface="Times New Roman"/>
              </a:defRPr>
            </a:pPr>
            <a:r>
              <a:t>Quadrature PSK: 2 bits/symbol via phase shifts.</a:t>
            </a:r>
          </a:p>
          <a:p>
            <a:pPr>
              <a:spcAft>
                <a:spcPts val="1500"/>
              </a:spcAft>
              <a:defRPr sz="2000">
                <a:latin typeface="Times New Roman"/>
              </a:defRPr>
            </a:pPr>
            <a:r>
              <a:t>Constellation: 4 points at 90° for bit pairs 00, 01, 10, 11.</a:t>
            </a:r>
          </a:p>
          <a:p>
            <a:pPr>
              <a:spcAft>
                <a:spcPts val="1500"/>
              </a:spcAft>
              <a:defRPr sz="2000">
                <a:latin typeface="Times New Roman"/>
              </a:defRPr>
            </a:pPr>
            <a:r>
              <a:t>Data rate doubled vs. BPSK in same bandwidth.</a:t>
            </a:r>
          </a:p>
        </p:txBody>
      </p:sp>
      <p:pic>
        <p:nvPicPr>
          <p:cNvPr id="4" name="Picture 3" descr="qpsk_constellation_temp.png"/>
          <p:cNvPicPr>
            <a:picLocks noChangeAspect="1"/>
          </p:cNvPicPr>
          <p:nvPr/>
        </p:nvPicPr>
        <p:blipFill>
          <a:blip r:embed="rId2"/>
          <a:stretch>
            <a:fillRect/>
          </a:stretch>
        </p:blipFill>
        <p:spPr>
          <a:xfrm>
            <a:off x="6400800" y="1828800"/>
            <a:ext cx="4572000" cy="457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370733" cy="1143000"/>
          </a:xfrm>
        </p:spPr>
        <p:txBody>
          <a:bodyPr/>
          <a:lstStyle/>
          <a:p>
            <a:pPr>
              <a:defRPr sz="3200" b="1">
                <a:solidFill>
                  <a:srgbClr val="000040"/>
                </a:solidFill>
                <a:latin typeface="Times New Roman"/>
              </a:defRPr>
            </a:pPr>
            <a:r>
              <a:rPr dirty="0"/>
              <a:t>QPSK Advantages</a:t>
            </a:r>
          </a:p>
        </p:txBody>
      </p:sp>
      <p:sp>
        <p:nvSpPr>
          <p:cNvPr id="3" name="TextBox 2"/>
          <p:cNvSpPr txBox="1"/>
          <p:nvPr/>
        </p:nvSpPr>
        <p:spPr>
          <a:xfrm>
            <a:off x="457200" y="1828800"/>
            <a:ext cx="11370732" cy="2177519"/>
          </a:xfrm>
          <a:prstGeom prst="rect">
            <a:avLst/>
          </a:prstGeom>
          <a:noFill/>
        </p:spPr>
        <p:txBody>
          <a:bodyPr wrap="square">
            <a:spAutoFit/>
          </a:bodyPr>
          <a:lstStyle/>
          <a:p>
            <a:endParaRPr dirty="0"/>
          </a:p>
          <a:p>
            <a:pPr>
              <a:spcAft>
                <a:spcPts val="1500"/>
              </a:spcAft>
              <a:defRPr sz="2000">
                <a:latin typeface="Times New Roman"/>
              </a:defRPr>
            </a:pPr>
            <a:r>
              <a:rPr dirty="0"/>
              <a:t>Spectral Efficiency: 2 bits per symbol.</a:t>
            </a:r>
          </a:p>
          <a:p>
            <a:pPr>
              <a:spcAft>
                <a:spcPts val="1500"/>
              </a:spcAft>
              <a:defRPr sz="2000">
                <a:latin typeface="Times New Roman"/>
              </a:defRPr>
            </a:pPr>
            <a:r>
              <a:rPr dirty="0"/>
              <a:t>Power Efficiency: Constant envelope signals.</a:t>
            </a:r>
          </a:p>
          <a:p>
            <a:pPr>
              <a:spcAft>
                <a:spcPts val="1500"/>
              </a:spcAft>
              <a:defRPr sz="2000">
                <a:latin typeface="Times New Roman"/>
              </a:defRPr>
            </a:pPr>
            <a:r>
              <a:rPr dirty="0"/>
              <a:t>Robust in AWGN; used in satellite &amp; mobile comms.</a:t>
            </a:r>
            <a:endParaRPr lang="en-IN" dirty="0"/>
          </a:p>
          <a:p>
            <a:pPr>
              <a:spcAft>
                <a:spcPts val="1500"/>
              </a:spcAft>
              <a:defRPr sz="2000">
                <a:latin typeface="Times New Roman"/>
              </a:defRPr>
            </a:pPr>
            <a:r>
              <a:rPr lang="en-IN" dirty="0"/>
              <a:t>			QPSK MODULATOR                                                       QPSK DEMODULATOR </a:t>
            </a:r>
          </a:p>
        </p:txBody>
      </p:sp>
      <p:pic>
        <p:nvPicPr>
          <p:cNvPr id="9" name="Picture 8">
            <a:extLst>
              <a:ext uri="{FF2B5EF4-FFF2-40B4-BE49-F238E27FC236}">
                <a16:creationId xmlns:a16="http://schemas.microsoft.com/office/drawing/2014/main" id="{0B569E85-7D21-D74D-76D5-CA872D2F21AF}"/>
              </a:ext>
            </a:extLst>
          </p:cNvPr>
          <p:cNvPicPr>
            <a:picLocks noChangeAspect="1"/>
          </p:cNvPicPr>
          <p:nvPr/>
        </p:nvPicPr>
        <p:blipFill>
          <a:blip r:embed="rId2"/>
          <a:stretch>
            <a:fillRect/>
          </a:stretch>
        </p:blipFill>
        <p:spPr>
          <a:xfrm>
            <a:off x="700618" y="4006319"/>
            <a:ext cx="4828116" cy="2851678"/>
          </a:xfrm>
          <a:prstGeom prst="rect">
            <a:avLst/>
          </a:prstGeom>
        </p:spPr>
      </p:pic>
      <p:pic>
        <p:nvPicPr>
          <p:cNvPr id="11" name="Picture 10">
            <a:extLst>
              <a:ext uri="{FF2B5EF4-FFF2-40B4-BE49-F238E27FC236}">
                <a16:creationId xmlns:a16="http://schemas.microsoft.com/office/drawing/2014/main" id="{31BB86E0-A7E4-ECCC-D3C8-507615ECE75F}"/>
              </a:ext>
            </a:extLst>
          </p:cNvPr>
          <p:cNvPicPr>
            <a:picLocks noChangeAspect="1"/>
          </p:cNvPicPr>
          <p:nvPr/>
        </p:nvPicPr>
        <p:blipFill>
          <a:blip r:embed="rId3"/>
          <a:stretch>
            <a:fillRect/>
          </a:stretch>
        </p:blipFill>
        <p:spPr>
          <a:xfrm>
            <a:off x="6585479" y="4006316"/>
            <a:ext cx="4463522" cy="28516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446933" cy="1143000"/>
          </a:xfrm>
        </p:spPr>
        <p:txBody>
          <a:bodyPr anchor="b"/>
          <a:lstStyle/>
          <a:p>
            <a:pPr>
              <a:defRPr sz="3200" b="1">
                <a:solidFill>
                  <a:srgbClr val="000040"/>
                </a:solidFill>
                <a:latin typeface="Times New Roman"/>
              </a:defRPr>
            </a:pPr>
            <a:r>
              <a:rPr dirty="0"/>
              <a:t>FPGA Architecture</a:t>
            </a:r>
          </a:p>
        </p:txBody>
      </p:sp>
      <p:sp>
        <p:nvSpPr>
          <p:cNvPr id="3" name="TextBox 2"/>
          <p:cNvSpPr txBox="1"/>
          <p:nvPr/>
        </p:nvSpPr>
        <p:spPr>
          <a:xfrm>
            <a:off x="1075267" y="1540934"/>
            <a:ext cx="9897532" cy="1805623"/>
          </a:xfrm>
          <a:prstGeom prst="rect">
            <a:avLst/>
          </a:prstGeom>
          <a:noFill/>
        </p:spPr>
        <p:txBody>
          <a:bodyPr wrap="square">
            <a:spAutoFit/>
          </a:bodyPr>
          <a:lstStyle/>
          <a:p>
            <a:endParaRPr dirty="0"/>
          </a:p>
          <a:p>
            <a:pPr>
              <a:spcAft>
                <a:spcPts val="2000"/>
              </a:spcAft>
              <a:defRPr sz="2000">
                <a:latin typeface="Times New Roman"/>
              </a:defRPr>
            </a:pPr>
            <a:r>
              <a:rPr dirty="0"/>
              <a:t>Components: LUTs, Flip-flops, DSP slices, BRAM.</a:t>
            </a:r>
          </a:p>
          <a:p>
            <a:pPr>
              <a:spcAft>
                <a:spcPts val="2000"/>
              </a:spcAft>
              <a:defRPr sz="2000">
                <a:latin typeface="Times New Roman"/>
              </a:defRPr>
            </a:pPr>
            <a:r>
              <a:rPr dirty="0"/>
              <a:t>Modulator Block: Mapper, phase accumulator, I/Q LUTs.</a:t>
            </a:r>
          </a:p>
          <a:p>
            <a:pPr>
              <a:spcAft>
                <a:spcPts val="2000"/>
              </a:spcAft>
              <a:defRPr sz="2000">
                <a:latin typeface="Times New Roman"/>
              </a:defRPr>
            </a:pPr>
            <a:r>
              <a:rPr dirty="0"/>
              <a:t>Interfaces: AXI4-Stream for high-speed data.</a:t>
            </a:r>
          </a:p>
        </p:txBody>
      </p:sp>
      <p:pic>
        <p:nvPicPr>
          <p:cNvPr id="2050" name="Picture 2" descr="FPGA Look-Up Tables ...">
            <a:extLst>
              <a:ext uri="{FF2B5EF4-FFF2-40B4-BE49-F238E27FC236}">
                <a16:creationId xmlns:a16="http://schemas.microsoft.com/office/drawing/2014/main" id="{237C755C-3586-23B3-8C55-C7CA1AFE3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308" y="3658659"/>
            <a:ext cx="3405091" cy="27336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243733" cy="1143000"/>
          </a:xfrm>
        </p:spPr>
        <p:txBody>
          <a:bodyPr/>
          <a:lstStyle/>
          <a:p>
            <a:pPr>
              <a:defRPr sz="3200" b="1">
                <a:solidFill>
                  <a:srgbClr val="000040"/>
                </a:solidFill>
                <a:latin typeface="Times New Roman"/>
              </a:defRPr>
            </a:pPr>
            <a:r>
              <a:rPr dirty="0"/>
              <a:t>FPGA Architecture Block Diagram</a:t>
            </a:r>
          </a:p>
        </p:txBody>
      </p:sp>
      <p:pic>
        <p:nvPicPr>
          <p:cNvPr id="3" name="Picture 2" descr="fpga_block_diagram_vertical.png"/>
          <p:cNvPicPr>
            <a:picLocks noChangeAspect="1"/>
          </p:cNvPicPr>
          <p:nvPr/>
        </p:nvPicPr>
        <p:blipFill>
          <a:blip r:embed="rId2"/>
          <a:stretch>
            <a:fillRect/>
          </a:stretch>
        </p:blipFill>
        <p:spPr>
          <a:xfrm>
            <a:off x="7120467" y="1096962"/>
            <a:ext cx="3793066" cy="5486400"/>
          </a:xfrm>
          <a:prstGeom prst="rect">
            <a:avLst/>
          </a:prstGeom>
        </p:spPr>
      </p:pic>
      <p:pic>
        <p:nvPicPr>
          <p:cNvPr id="1026" name="Picture 2" descr="Simplified FPGA design flow. | Download Scientific Diagram">
            <a:extLst>
              <a:ext uri="{FF2B5EF4-FFF2-40B4-BE49-F238E27FC236}">
                <a16:creationId xmlns:a16="http://schemas.microsoft.com/office/drawing/2014/main" id="{57D51BDB-730F-5AA1-73E1-3F2C42558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2167" y="1102254"/>
            <a:ext cx="5168900" cy="5210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F072-BC7B-135A-5BD4-EA1918702D57}"/>
              </a:ext>
            </a:extLst>
          </p:cNvPr>
          <p:cNvSpPr>
            <a:spLocks noGrp="1"/>
          </p:cNvSpPr>
          <p:nvPr>
            <p:ph type="title"/>
          </p:nvPr>
        </p:nvSpPr>
        <p:spPr>
          <a:xfrm>
            <a:off x="457200" y="274638"/>
            <a:ext cx="11430000" cy="1143000"/>
          </a:xfrm>
        </p:spPr>
        <p:txBody>
          <a:bodyPr/>
          <a:lstStyle/>
          <a:p>
            <a:r>
              <a:rPr lang="en-US" dirty="0"/>
              <a:t>Design Flow</a:t>
            </a:r>
          </a:p>
        </p:txBody>
      </p:sp>
      <p:sp>
        <p:nvSpPr>
          <p:cNvPr id="3" name="TextBox 2">
            <a:extLst>
              <a:ext uri="{FF2B5EF4-FFF2-40B4-BE49-F238E27FC236}">
                <a16:creationId xmlns:a16="http://schemas.microsoft.com/office/drawing/2014/main" id="{AACD531B-AEA8-9DF5-AB78-6388F158AAE9}"/>
              </a:ext>
            </a:extLst>
          </p:cNvPr>
          <p:cNvSpPr txBox="1"/>
          <p:nvPr/>
        </p:nvSpPr>
        <p:spPr>
          <a:xfrm>
            <a:off x="372533" y="1676400"/>
            <a:ext cx="11243734" cy="3970318"/>
          </a:xfrm>
          <a:prstGeom prst="rect">
            <a:avLst/>
          </a:prstGeom>
          <a:noFill/>
        </p:spPr>
        <p:txBody>
          <a:bodyPr wrap="square" rtlCol="0">
            <a:spAutoFit/>
          </a:bodyPr>
          <a:lstStyle/>
          <a:p>
            <a:r>
              <a:rPr lang="en-US" b="1" i="1" dirty="0"/>
              <a:t>Design Requirements:</a:t>
            </a:r>
          </a:p>
          <a:p>
            <a:r>
              <a:rPr lang="en-US" dirty="0"/>
              <a:t>Define system specs, performance targets, I/O and timing constraints.</a:t>
            </a:r>
            <a:br>
              <a:rPr lang="en-US" dirty="0"/>
            </a:br>
            <a:r>
              <a:rPr lang="en-US" b="1" i="1" dirty="0"/>
              <a:t>Design Entry :</a:t>
            </a:r>
          </a:p>
          <a:p>
            <a:r>
              <a:rPr lang="en-US" dirty="0"/>
              <a:t>Create RTL in Verilog/VHDL (or schematic), instantiate IP cores and state machines.</a:t>
            </a:r>
          </a:p>
          <a:p>
            <a:r>
              <a:rPr lang="en-US" b="1" i="1" dirty="0"/>
              <a:t>Simulation:</a:t>
            </a:r>
          </a:p>
          <a:p>
            <a:r>
              <a:rPr lang="en-US" dirty="0"/>
              <a:t>Run functional testbenches to verify logical behavior before synthesis.</a:t>
            </a:r>
            <a:br>
              <a:rPr lang="en-US" dirty="0"/>
            </a:br>
            <a:r>
              <a:rPr lang="en-US" b="1" i="1" dirty="0"/>
              <a:t>HDL Synthesis:</a:t>
            </a:r>
          </a:p>
          <a:p>
            <a:r>
              <a:rPr lang="en-US" dirty="0"/>
              <a:t>Translate RTL into a gate-level netlist using synthesis directives (area/speed optimizations).</a:t>
            </a:r>
            <a:br>
              <a:rPr lang="en-US" dirty="0"/>
            </a:br>
            <a:r>
              <a:rPr lang="en-US" b="1" i="1" dirty="0"/>
              <a:t>Place &amp; Route:</a:t>
            </a:r>
          </a:p>
          <a:p>
            <a:r>
              <a:rPr lang="en-US" dirty="0"/>
              <a:t>Map logic onto FPGA resources and route interconnects under timing/I-O constraints.</a:t>
            </a:r>
          </a:p>
          <a:p>
            <a:r>
              <a:rPr lang="en-US" b="1" i="1" dirty="0"/>
              <a:t>FPGA Configuration:</a:t>
            </a:r>
          </a:p>
          <a:p>
            <a:r>
              <a:rPr lang="en-US" dirty="0"/>
              <a:t>Generate the final bitstream and load it into the device using the configuration tool.</a:t>
            </a:r>
          </a:p>
          <a:p>
            <a:r>
              <a:rPr lang="en-US" b="1" i="1" dirty="0"/>
              <a:t>Configured FPGA:</a:t>
            </a:r>
          </a:p>
          <a:p>
            <a:r>
              <a:rPr lang="en-US" dirty="0"/>
              <a:t>Validate functionality on hardware, perform in-system testing and debugging.</a:t>
            </a:r>
          </a:p>
        </p:txBody>
      </p:sp>
    </p:spTree>
    <p:extLst>
      <p:ext uri="{BB962C8B-B14F-4D97-AF65-F5344CB8AC3E}">
        <p14:creationId xmlns:p14="http://schemas.microsoft.com/office/powerpoint/2010/main" val="2477054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336867" cy="1143000"/>
          </a:xfrm>
        </p:spPr>
        <p:txBody>
          <a:bodyPr/>
          <a:lstStyle/>
          <a:p>
            <a:pPr>
              <a:defRPr sz="3200" b="1">
                <a:solidFill>
                  <a:srgbClr val="000040"/>
                </a:solidFill>
                <a:latin typeface="Times New Roman"/>
              </a:defRPr>
            </a:pPr>
            <a:r>
              <a:rPr dirty="0" err="1"/>
              <a:t>RFSoC</a:t>
            </a:r>
            <a:r>
              <a:rPr dirty="0"/>
              <a:t> Overview</a:t>
            </a:r>
          </a:p>
        </p:txBody>
      </p:sp>
      <p:sp>
        <p:nvSpPr>
          <p:cNvPr id="3" name="TextBox 2"/>
          <p:cNvSpPr txBox="1"/>
          <p:nvPr/>
        </p:nvSpPr>
        <p:spPr>
          <a:xfrm>
            <a:off x="457200" y="1828800"/>
            <a:ext cx="11336866" cy="5386090"/>
          </a:xfrm>
          <a:prstGeom prst="rect">
            <a:avLst/>
          </a:prstGeom>
          <a:noFill/>
        </p:spPr>
        <p:txBody>
          <a:bodyPr wrap="square">
            <a:spAutoFit/>
          </a:bodyPr>
          <a:lstStyle/>
          <a:p>
            <a:endParaRPr dirty="0"/>
          </a:p>
          <a:p>
            <a:pPr>
              <a:buNone/>
            </a:pPr>
            <a:r>
              <a:rPr lang="en-US" b="1" dirty="0"/>
              <a:t>1. What Is an </a:t>
            </a:r>
            <a:r>
              <a:rPr lang="en-US" b="1" dirty="0" err="1"/>
              <a:t>RFSoC</a:t>
            </a:r>
            <a:r>
              <a:rPr lang="en-US" b="1" dirty="0"/>
              <a:t>?</a:t>
            </a:r>
          </a:p>
          <a:p>
            <a:pPr>
              <a:buFont typeface="Arial" panose="020B0604020202020204" pitchFamily="34" charset="0"/>
              <a:buChar char="•"/>
            </a:pPr>
            <a:r>
              <a:rPr lang="en-US" b="1" dirty="0"/>
              <a:t>All-in-one silicon</a:t>
            </a:r>
            <a:r>
              <a:rPr lang="en-US" dirty="0"/>
              <a:t>: FPGA fabric + high-speed ADCs/DACs + ARM CPUs</a:t>
            </a:r>
          </a:p>
          <a:p>
            <a:pPr>
              <a:buFont typeface="Arial" panose="020B0604020202020204" pitchFamily="34" charset="0"/>
              <a:buChar char="•"/>
            </a:pPr>
            <a:r>
              <a:rPr lang="en-US" b="1" dirty="0"/>
              <a:t>Eliminates</a:t>
            </a:r>
            <a:r>
              <a:rPr lang="en-US" dirty="0"/>
              <a:t> off-chip mixers, IF stages, and ribbon cables</a:t>
            </a:r>
          </a:p>
          <a:p>
            <a:pPr>
              <a:buNone/>
            </a:pPr>
            <a:r>
              <a:rPr lang="en-US" b="1" dirty="0"/>
              <a:t>2. Key Advantages</a:t>
            </a:r>
          </a:p>
          <a:p>
            <a:pPr>
              <a:buFont typeface="Arial" panose="020B0604020202020204" pitchFamily="34" charset="0"/>
              <a:buChar char="•"/>
            </a:pPr>
            <a:r>
              <a:rPr lang="en-US" b="1" dirty="0"/>
              <a:t>Ultra-Low Latency</a:t>
            </a:r>
            <a:endParaRPr lang="en-US" dirty="0"/>
          </a:p>
          <a:p>
            <a:pPr marL="742950" lvl="1" indent="-285750">
              <a:buFont typeface="Arial" panose="020B0604020202020204" pitchFamily="34" charset="0"/>
              <a:buChar char="•"/>
            </a:pPr>
            <a:r>
              <a:rPr lang="en-US" dirty="0"/>
              <a:t>No off-chip hops—sample, process, re-generate in-chip</a:t>
            </a:r>
          </a:p>
          <a:p>
            <a:pPr marL="742950" lvl="1" indent="-285750">
              <a:buFont typeface="Arial" panose="020B0604020202020204" pitchFamily="34" charset="0"/>
              <a:buChar char="•"/>
            </a:pPr>
            <a:r>
              <a:rPr lang="en-US" dirty="0"/>
              <a:t>Ideal for real-time beamforming, adaptive filtering, FEC</a:t>
            </a:r>
          </a:p>
          <a:p>
            <a:pPr>
              <a:buFont typeface="Arial" panose="020B0604020202020204" pitchFamily="34" charset="0"/>
              <a:buChar char="•"/>
            </a:pPr>
            <a:r>
              <a:rPr lang="en-US" b="1" dirty="0"/>
              <a:t>Minimal Hardware Complexity</a:t>
            </a:r>
            <a:endParaRPr lang="en-US" dirty="0"/>
          </a:p>
          <a:p>
            <a:pPr marL="742950" lvl="1" indent="-285750">
              <a:buFont typeface="Arial" panose="020B0604020202020204" pitchFamily="34" charset="0"/>
              <a:buChar char="•"/>
            </a:pPr>
            <a:r>
              <a:rPr lang="en-US" dirty="0"/>
              <a:t>Fewer chips → simpler PCB, lower power, smaller BOM</a:t>
            </a:r>
          </a:p>
          <a:p>
            <a:pPr marL="742950" lvl="1" indent="-285750">
              <a:buFont typeface="Arial" panose="020B0604020202020204" pitchFamily="34" charset="0"/>
              <a:buChar char="•"/>
            </a:pPr>
            <a:r>
              <a:rPr lang="en-US" dirty="0"/>
              <a:t>Faster time-to-prototype</a:t>
            </a:r>
          </a:p>
          <a:p>
            <a:pPr>
              <a:buNone/>
            </a:pPr>
            <a:r>
              <a:rPr lang="en-US" b="1" dirty="0"/>
              <a:t>3. Use Case: Direct RF QPSK Sampling</a:t>
            </a:r>
          </a:p>
          <a:p>
            <a:pPr>
              <a:buFont typeface="+mj-lt"/>
              <a:buAutoNum type="arabicPeriod"/>
            </a:pPr>
            <a:r>
              <a:rPr lang="en-US" b="1" dirty="0"/>
              <a:t>Clock ADC at RF</a:t>
            </a:r>
            <a:r>
              <a:rPr lang="en-US" dirty="0"/>
              <a:t> (e.g. 2–4 GS/s) → sample 2 GHz QPSK directly</a:t>
            </a:r>
          </a:p>
          <a:p>
            <a:pPr>
              <a:buFont typeface="+mj-lt"/>
              <a:buAutoNum type="arabicPeriod"/>
            </a:pPr>
            <a:r>
              <a:rPr lang="en-US" b="1" dirty="0"/>
              <a:t>FPGA/ARM</a:t>
            </a:r>
            <a:r>
              <a:rPr lang="en-US" dirty="0"/>
              <a:t> demodulate:</a:t>
            </a:r>
          </a:p>
          <a:p>
            <a:pPr marL="742950" lvl="1" indent="-285750">
              <a:buFont typeface="+mj-lt"/>
              <a:buAutoNum type="arabicPeriod"/>
            </a:pPr>
            <a:r>
              <a:rPr lang="en-US" dirty="0"/>
              <a:t>Phase‐to‐bit mapping (00→45°, 01→135°, 11→225°, 10→315°)</a:t>
            </a:r>
          </a:p>
          <a:p>
            <a:pPr marL="742950" lvl="1" indent="-285750">
              <a:buFont typeface="+mj-lt"/>
              <a:buAutoNum type="arabicPeriod"/>
            </a:pPr>
            <a:r>
              <a:rPr lang="en-US" dirty="0"/>
              <a:t>Filtering, synchronization, decoding all on-chip</a:t>
            </a:r>
          </a:p>
          <a:p>
            <a:pPr>
              <a:buFont typeface="+mj-lt"/>
              <a:buAutoNum type="arabicPeriod"/>
            </a:pPr>
            <a:r>
              <a:rPr lang="en-US" b="1" dirty="0"/>
              <a:t>Result</a:t>
            </a:r>
            <a:r>
              <a:rPr lang="en-US" dirty="0"/>
              <a:t>: Pure digital QPSK stream—no external mixers or calibration</a:t>
            </a:r>
          </a:p>
          <a:p>
            <a:endParaRPr lang="en-US" dirty="0"/>
          </a:p>
          <a:p>
            <a:pPr>
              <a:spcAft>
                <a:spcPts val="1500"/>
              </a:spcAft>
              <a:defRPr sz="2000">
                <a:latin typeface="Times New Roman"/>
              </a:defRPr>
            </a:pPr>
            <a:r>
              <a:rPr dirty="0"/>
              <a:t>Use Case: Direct RF sampling of QPSK.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142133" cy="1143000"/>
          </a:xfrm>
        </p:spPr>
        <p:txBody>
          <a:bodyPr/>
          <a:lstStyle/>
          <a:p>
            <a:pPr>
              <a:defRPr sz="3200" b="1">
                <a:solidFill>
                  <a:srgbClr val="000040"/>
                </a:solidFill>
                <a:latin typeface="Times New Roman"/>
              </a:defRPr>
            </a:pPr>
            <a:r>
              <a:rPr dirty="0" err="1"/>
              <a:t>RFSoC</a:t>
            </a:r>
            <a:r>
              <a:rPr dirty="0"/>
              <a:t> Details</a:t>
            </a:r>
          </a:p>
        </p:txBody>
      </p:sp>
      <p:sp>
        <p:nvSpPr>
          <p:cNvPr id="3" name="TextBox 2"/>
          <p:cNvSpPr txBox="1"/>
          <p:nvPr/>
        </p:nvSpPr>
        <p:spPr>
          <a:xfrm>
            <a:off x="457200" y="1828799"/>
            <a:ext cx="11370733"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Modulator in PL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Bit-to-phase mapping &amp; filtering on-chip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DAC → RF 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Direct RF waveform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ADC in PL for Demodulation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Instant digitization &amp; symbol recovery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 IP Blocks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DSP Slices | BRAM | PLLs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JESD204B SerDes | DMA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269133" cy="1143000"/>
          </a:xfrm>
        </p:spPr>
        <p:txBody>
          <a:bodyPr/>
          <a:lstStyle/>
          <a:p>
            <a:pPr>
              <a:defRPr sz="3200" b="1">
                <a:solidFill>
                  <a:srgbClr val="000040"/>
                </a:solidFill>
                <a:latin typeface="Times New Roman"/>
              </a:defRPr>
            </a:pPr>
            <a:r>
              <a:rPr dirty="0"/>
              <a:t>Conclusion</a:t>
            </a:r>
          </a:p>
        </p:txBody>
      </p:sp>
      <p:sp>
        <p:nvSpPr>
          <p:cNvPr id="3" name="TextBox 2"/>
          <p:cNvSpPr txBox="1"/>
          <p:nvPr/>
        </p:nvSpPr>
        <p:spPr>
          <a:xfrm>
            <a:off x="457200" y="1828800"/>
            <a:ext cx="5486400" cy="4114800"/>
          </a:xfrm>
          <a:prstGeom prst="rect">
            <a:avLst/>
          </a:prstGeom>
          <a:noFill/>
        </p:spPr>
        <p:txBody>
          <a:bodyPr wrap="none">
            <a:spAutoFit/>
          </a:bodyPr>
          <a:lstStyle/>
          <a:p>
            <a:endParaRPr dirty="0"/>
          </a:p>
          <a:p>
            <a:pPr>
              <a:spcAft>
                <a:spcPts val="1500"/>
              </a:spcAft>
              <a:defRPr sz="2000">
                <a:latin typeface="Times New Roman"/>
              </a:defRPr>
            </a:pPr>
            <a:r>
              <a:rPr dirty="0"/>
              <a:t>FPGA-based QPSK: Efficient, real-time space comms.</a:t>
            </a:r>
          </a:p>
          <a:p>
            <a:pPr>
              <a:spcAft>
                <a:spcPts val="1500"/>
              </a:spcAft>
              <a:defRPr sz="2000">
                <a:latin typeface="Times New Roman"/>
              </a:defRPr>
            </a:pPr>
            <a:r>
              <a:rPr dirty="0" err="1"/>
              <a:t>RFSoC</a:t>
            </a:r>
            <a:r>
              <a:rPr dirty="0"/>
              <a:t> integration: Compact, low-power solution.</a:t>
            </a:r>
          </a:p>
          <a:p>
            <a:pPr>
              <a:spcAft>
                <a:spcPts val="1500"/>
              </a:spcAft>
              <a:defRPr sz="2000">
                <a:latin typeface="Times New Roman"/>
              </a:defRPr>
            </a:pPr>
            <a:r>
              <a:rPr dirty="0"/>
              <a:t>Future: Optimization &amp; satellite telemetry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681</TotalTime>
  <Words>823</Words>
  <Application>Microsoft Office PowerPoint</Application>
  <PresentationFormat>Custom</PresentationFormat>
  <Paragraphs>83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FPGA Implementation of QPSK</vt:lpstr>
      <vt:lpstr>Modulation Overview</vt:lpstr>
      <vt:lpstr>Demodulation Overview</vt:lpstr>
      <vt:lpstr>QPSK Fundamentals</vt:lpstr>
      <vt:lpstr>QPSK Advantages</vt:lpstr>
      <vt:lpstr>FPGA Architecture</vt:lpstr>
      <vt:lpstr>FPGA Architecture Block Diagram</vt:lpstr>
      <vt:lpstr>Design Flow</vt:lpstr>
      <vt:lpstr>RFSoC Overview</vt:lpstr>
      <vt:lpstr>RFSoC Details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Sreevignesh Gopaluni</dc:creator>
  <cp:keywords/>
  <dc:description>generated using python-pptx</dc:description>
  <cp:lastModifiedBy>Sreevignesh Gopaluni</cp:lastModifiedBy>
  <cp:revision>5</cp:revision>
  <dcterms:created xsi:type="dcterms:W3CDTF">2013-01-27T09:14:16Z</dcterms:created>
  <dcterms:modified xsi:type="dcterms:W3CDTF">2025-05-11T17:41:48Z</dcterms:modified>
  <cp:category/>
</cp:coreProperties>
</file>